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ukta Light" panose="020B0604020202020204" charset="0"/>
      <p:regular r:id="rId14"/>
    </p:embeddedFont>
    <p:embeddedFont>
      <p:font typeface="Prompt Medium" panose="00000600000000000000" pitchFamily="2" charset="-3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48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25472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Personal Banking Assistant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295775"/>
            <a:ext cx="49160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Your Intelligent Financial Companion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00895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Hack-O-NiT 2026 | AI UTKARSH | Narula Institute of Technology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24883"/>
            <a:ext cx="81023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India's Financial Literacy Crisis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227784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27%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539954" y="43509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Financially Literate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64037" y="4841915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Only 27% of Indian adults understand basic financial concepts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67682" y="3227784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883235" y="4350901"/>
            <a:ext cx="286392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Don't Track Expenses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267682" y="4841915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Young professionals fail to monitor their daily spending patterns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71328" y="3227784"/>
            <a:ext cx="40950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₹1.5T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0347246" y="43509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Annual Loss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671328" y="4841915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Crore lost yearly due to poor financial decisions and lack of guidance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4037" y="590966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personalized financial guidance available for millions of Indians who need it most.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65128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Meet Your AI-Powered Financial Companion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393168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One intelligent assistant that analyzes, predicts, advises, and helps you grow your money. Powered by machine learning and designed for India's unique financial landscape.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868" y="699968"/>
            <a:ext cx="5396389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49868" y="1852136"/>
            <a:ext cx="6345912" cy="2719268"/>
          </a:xfrm>
          <a:prstGeom prst="roundRect">
            <a:avLst>
              <a:gd name="adj" fmla="val 37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257" y="2102525"/>
            <a:ext cx="728424" cy="728424"/>
          </a:xfrm>
          <a:prstGeom prst="roundRect">
            <a:avLst>
              <a:gd name="adj" fmla="val 12551873"/>
            </a:avLst>
          </a:prstGeom>
          <a:solidFill>
            <a:srgbClr val="A95B9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520" y="2302788"/>
            <a:ext cx="327779" cy="3277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0257" y="3069788"/>
            <a:ext cx="269819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Expense Analysis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00257" y="3550206"/>
            <a:ext cx="5845135" cy="770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Automatically categorizes transactions by analyzing patterns, merchant names, and spending behavior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4620" y="1852136"/>
            <a:ext cx="6345912" cy="2719268"/>
          </a:xfrm>
          <a:prstGeom prst="roundRect">
            <a:avLst>
              <a:gd name="adj" fmla="val 37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5008" y="2102525"/>
            <a:ext cx="728424" cy="728424"/>
          </a:xfrm>
          <a:prstGeom prst="roundRect">
            <a:avLst>
              <a:gd name="adj" fmla="val 12551873"/>
            </a:avLst>
          </a:prstGeom>
          <a:solidFill>
            <a:srgbClr val="A95B9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5271" y="2302788"/>
            <a:ext cx="327779" cy="32777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008" y="3069788"/>
            <a:ext cx="269819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Behavior Detection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85008" y="3550206"/>
            <a:ext cx="5845135" cy="770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Identifies unnecessary spending patterns, frequent small expenses, and weekend overspending alerts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49868" y="4810244"/>
            <a:ext cx="6345912" cy="2719268"/>
          </a:xfrm>
          <a:prstGeom prst="roundRect">
            <a:avLst>
              <a:gd name="adj" fmla="val 37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00257" y="5060633"/>
            <a:ext cx="728424" cy="728424"/>
          </a:xfrm>
          <a:prstGeom prst="roundRect">
            <a:avLst>
              <a:gd name="adj" fmla="val 12551873"/>
            </a:avLst>
          </a:prstGeom>
          <a:solidFill>
            <a:srgbClr val="A95B9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520" y="5260896"/>
            <a:ext cx="327779" cy="32777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0257" y="6027896"/>
            <a:ext cx="269819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Balance Prediction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100257" y="6508313"/>
            <a:ext cx="5845135" cy="770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 forecasts end-of-month balance with risk alerts for low balance scenarios and emergency situations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7434620" y="4810244"/>
            <a:ext cx="6345912" cy="2719268"/>
          </a:xfrm>
          <a:prstGeom prst="roundRect">
            <a:avLst>
              <a:gd name="adj" fmla="val 3751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85008" y="5060633"/>
            <a:ext cx="728424" cy="728424"/>
          </a:xfrm>
          <a:prstGeom prst="roundRect">
            <a:avLst>
              <a:gd name="adj" fmla="val 12551873"/>
            </a:avLst>
          </a:prstGeom>
          <a:solidFill>
            <a:srgbClr val="A95B9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85271" y="5260896"/>
            <a:ext cx="327779" cy="32777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008" y="6027896"/>
            <a:ext cx="269819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Savings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85008" y="6508313"/>
            <a:ext cx="5845135" cy="770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Personalized where-to-cut suggestions with safe savings amount calculator based on your income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72553"/>
            <a:ext cx="1168229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Intelligent Fixed Deposit Recommendations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157055"/>
            <a:ext cx="451246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Killer Feature: AI FD Advisor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4037" y="2938820"/>
            <a:ext cx="6327696" cy="1835706"/>
          </a:xfrm>
          <a:prstGeom prst="roundRect">
            <a:avLst>
              <a:gd name="adj" fmla="val 56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333" y="3216116"/>
            <a:ext cx="281535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FD Suggestion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141333" y="3707130"/>
            <a:ext cx="57731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"You can invest ₹2,000 safely in FD this month based on your cash flow analysis"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2938820"/>
            <a:ext cx="6327815" cy="1835706"/>
          </a:xfrm>
          <a:prstGeom prst="roundRect">
            <a:avLst>
              <a:gd name="adj" fmla="val 56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5845" y="321611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Emergency Check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715845" y="3707130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"FD not recommended due to low balance. Maintain emergency fund first"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4037" y="5021342"/>
            <a:ext cx="6327696" cy="1835706"/>
          </a:xfrm>
          <a:prstGeom prst="roundRect">
            <a:avLst>
              <a:gd name="adj" fmla="val 56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1333" y="52986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Goal-Based FD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141333" y="5789652"/>
            <a:ext cx="57731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"To reach ₹20,000 in 6 months, invest ₹3,200/month with 6% interest"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38549" y="5021342"/>
            <a:ext cx="6327815" cy="1835706"/>
          </a:xfrm>
          <a:prstGeom prst="roundRect">
            <a:avLst>
              <a:gd name="adj" fmla="val 56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5845" y="5298638"/>
            <a:ext cx="2885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Idle Money Detection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715845" y="5789652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"₹8,000 unused for 20 days—consider FD to earn ₹80/month interest"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168" y="1277064"/>
            <a:ext cx="7839551" cy="458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Decision Engine You've Always Wanted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78168" y="1779984"/>
            <a:ext cx="4428053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Killer Feature: "Can I Afford This?" Button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8168" y="2331482"/>
            <a:ext cx="1835587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Example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8168" y="2671405"/>
            <a:ext cx="379237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"Can I buy a phone worth ₹8,000?"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8168" y="2991445"/>
            <a:ext cx="3792379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❌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Output: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"Not recommended. This purchase may cause balance shortage after 20th."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81074" y="2331482"/>
            <a:ext cx="1835587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Example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81074" y="2671405"/>
            <a:ext cx="379237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"Can I buy a phone worth ₹8,000?"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81074" y="2991445"/>
            <a:ext cx="3792379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✅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Output: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"Safe to buy. You will still maintain ₹3,000 buffer."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168" y="3684627"/>
            <a:ext cx="165140" cy="1651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8168" y="3921800"/>
            <a:ext cx="7987665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9"/>
          <p:cNvSpPr/>
          <p:nvPr/>
        </p:nvSpPr>
        <p:spPr>
          <a:xfrm>
            <a:off x="578168" y="4050030"/>
            <a:ext cx="1956316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Balance Check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168" y="4534376"/>
            <a:ext cx="165140" cy="1651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78168" y="4771549"/>
            <a:ext cx="7987665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6" name="Text 11"/>
          <p:cNvSpPr/>
          <p:nvPr/>
        </p:nvSpPr>
        <p:spPr>
          <a:xfrm>
            <a:off x="578168" y="4899779"/>
            <a:ext cx="1835587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Expense Analysis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168" y="5384125"/>
            <a:ext cx="165140" cy="1651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78168" y="5621298"/>
            <a:ext cx="7987665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9" name="Text 13"/>
          <p:cNvSpPr/>
          <p:nvPr/>
        </p:nvSpPr>
        <p:spPr>
          <a:xfrm>
            <a:off x="578168" y="5749528"/>
            <a:ext cx="1929527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Savings Goals Review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168" y="6233874"/>
            <a:ext cx="165140" cy="1651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78168" y="6471047"/>
            <a:ext cx="7987665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2" name="Text 15"/>
          <p:cNvSpPr/>
          <p:nvPr/>
        </p:nvSpPr>
        <p:spPr>
          <a:xfrm>
            <a:off x="578168" y="6599277"/>
            <a:ext cx="186249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FD Impact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0424" y="540187"/>
            <a:ext cx="7086005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It Works - Behind the Scenes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511" y="1359932"/>
            <a:ext cx="7973258" cy="6329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8208" y="3913752"/>
            <a:ext cx="1432867" cy="1164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It Works - Behind the Scenes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997776" y="2016005"/>
            <a:ext cx="2131644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CSV upload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97776" y="2400432"/>
            <a:ext cx="2131644" cy="4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Initial transaction import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444733" y="2131952"/>
            <a:ext cx="2131644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Intelligent outputs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44733" y="2516379"/>
            <a:ext cx="2131644" cy="23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Alerts, tips, FD advice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444733" y="6290759"/>
            <a:ext cx="2131644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Pattern analysis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444733" y="6675187"/>
            <a:ext cx="2131644" cy="23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Detect spending trends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97776" y="6174812"/>
            <a:ext cx="2131644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categorization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97776" y="6559240"/>
            <a:ext cx="2131644" cy="46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Assign merchant &amp; category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766631" y="4066285"/>
            <a:ext cx="2178241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766631" y="4450713"/>
            <a:ext cx="2178241" cy="4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Normalize and dedupe records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664229" y="4193882"/>
            <a:ext cx="2178241" cy="29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Balance prediction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64229" y="4578309"/>
            <a:ext cx="2178241" cy="23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Forecast cash flow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2534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Intelligence Stack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004893"/>
            <a:ext cx="6327696" cy="2576274"/>
          </a:xfrm>
          <a:prstGeom prst="roundRect">
            <a:avLst>
              <a:gd name="adj" fmla="val 402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517" y="2035373"/>
            <a:ext cx="6266736" cy="740569"/>
          </a:xfrm>
          <a:prstGeom prst="roundRect">
            <a:avLst>
              <a:gd name="adj" fmla="val 9063"/>
            </a:avLst>
          </a:prstGeom>
          <a:solidFill>
            <a:srgbClr val="542C4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2742" y="2212896"/>
            <a:ext cx="370284" cy="370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1333" y="30227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ML Classification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41333" y="3513773"/>
            <a:ext cx="57731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Random Forest and SVM algorithms for accurate transaction categorization with 92% precision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8549" y="2004893"/>
            <a:ext cx="6327815" cy="2576274"/>
          </a:xfrm>
          <a:prstGeom prst="roundRect">
            <a:avLst>
              <a:gd name="adj" fmla="val 402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69029" y="2035373"/>
            <a:ext cx="6266855" cy="740569"/>
          </a:xfrm>
          <a:prstGeom prst="roundRect">
            <a:avLst>
              <a:gd name="adj" fmla="val 9063"/>
            </a:avLst>
          </a:prstGeom>
          <a:solidFill>
            <a:srgbClr val="542C4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7254" y="2212896"/>
            <a:ext cx="370284" cy="3702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15845" y="302275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Pattern Analysis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715845" y="3513773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Anomaly detection algorithms identify unusual spending behavior and flag potential issues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64037" y="4827984"/>
            <a:ext cx="6327696" cy="2576274"/>
          </a:xfrm>
          <a:prstGeom prst="roundRect">
            <a:avLst>
              <a:gd name="adj" fmla="val 402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4517" y="4858464"/>
            <a:ext cx="6266736" cy="740569"/>
          </a:xfrm>
          <a:prstGeom prst="roundRect">
            <a:avLst>
              <a:gd name="adj" fmla="val 9063"/>
            </a:avLst>
          </a:prstGeom>
          <a:solidFill>
            <a:srgbClr val="542C4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2742" y="5035987"/>
            <a:ext cx="370284" cy="3702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1333" y="5845850"/>
            <a:ext cx="319730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Time-Series Forecasting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141333" y="6336863"/>
            <a:ext cx="577310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Prophet and LSTM models predict future balances with 85% accuracy based on historical patterns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7438549" y="4827984"/>
            <a:ext cx="6327815" cy="2576274"/>
          </a:xfrm>
          <a:prstGeom prst="roundRect">
            <a:avLst>
              <a:gd name="adj" fmla="val 402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69029" y="4858464"/>
            <a:ext cx="6266855" cy="740569"/>
          </a:xfrm>
          <a:prstGeom prst="roundRect">
            <a:avLst>
              <a:gd name="adj" fmla="val 9063"/>
            </a:avLst>
          </a:prstGeom>
          <a:solidFill>
            <a:srgbClr val="542C4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17254" y="5035987"/>
            <a:ext cx="370284" cy="3702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15845" y="584585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Rule + AI Logic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715845" y="6336863"/>
            <a:ext cx="577322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Hybrid system combines expert financial rules with machine learning for reliable FD recommendations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298" y="597218"/>
            <a:ext cx="4540448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Live Demo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98" y="1502926"/>
            <a:ext cx="1021556" cy="1225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39923" y="1707237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 View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239923" y="2092404"/>
            <a:ext cx="113410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financial overview with personalized insights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98" y="2728793"/>
            <a:ext cx="1021556" cy="1225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39923" y="2933105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Analysis Charts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239923" y="3318272"/>
            <a:ext cx="113410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Interactive visualizations of spending patterns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98" y="3954661"/>
            <a:ext cx="1021556" cy="1225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39923" y="4158972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Prediction Graph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39923" y="4544139"/>
            <a:ext cx="113410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Future balance forecasts with confidence intervals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298" y="5180528"/>
            <a:ext cx="1021556" cy="12258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39923" y="538484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FD Advisor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2239923" y="5770007"/>
            <a:ext cx="113410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fixed deposit recommendations in action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298" y="6406396"/>
            <a:ext cx="1021556" cy="12258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39923" y="6610707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Decision Engine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2239923" y="6995874"/>
            <a:ext cx="11341060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"Can I Afford This?" feature with real examples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9608" y="1090493"/>
            <a:ext cx="35906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 Impact. Real Numbers.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3529608" y="1618417"/>
            <a:ext cx="2472214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70%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05939" y="2133600"/>
            <a:ext cx="21194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Financial Decision Improvement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29608" y="2342078"/>
            <a:ext cx="2472214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Users make 70% more informed financial decisions after using the assistant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78974" y="1618417"/>
            <a:ext cx="2472333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₹6K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85096" y="2133600"/>
            <a:ext cx="16599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Annual Savings Potential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78974" y="2342078"/>
            <a:ext cx="2472333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Average user can save ₹6,000 per year through intelligent recommendations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28459" y="1618417"/>
            <a:ext cx="2472333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₹600Cr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78766" y="2133600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Scale Impact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28459" y="2342078"/>
            <a:ext cx="2472333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Annual small savings potential at scale with 1 million users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9608" y="2730818"/>
            <a:ext cx="2828806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From Hackathon to Reality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29608" y="3947874"/>
            <a:ext cx="7571184" cy="15240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5436" y="3577590"/>
            <a:ext cx="15240" cy="370284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5" name="Shape 13"/>
          <p:cNvSpPr/>
          <p:nvPr/>
        </p:nvSpPr>
        <p:spPr>
          <a:xfrm>
            <a:off x="5264229" y="3809047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0784" y="3845004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17256" y="3097530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1 (3 months)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2957" y="3306008"/>
            <a:ext cx="350031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Pilot with 1 bank partner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7461" y="3947874"/>
            <a:ext cx="15240" cy="370284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6254" y="3809047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2809" y="3845004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281" y="4441627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2 (6 months)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64981" y="4650105"/>
            <a:ext cx="350031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Integration with UPI apps (PhonePe, GPay)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19605" y="3577590"/>
            <a:ext cx="15240" cy="370284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5" name="Shape 23"/>
          <p:cNvSpPr/>
          <p:nvPr/>
        </p:nvSpPr>
        <p:spPr>
          <a:xfrm>
            <a:off x="9088398" y="3809047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953" y="3845004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41425" y="3097530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Phase 3 (1 year)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77125" y="3306008"/>
            <a:ext cx="3500318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 banking API integration + personal finance suite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9608" y="4890730"/>
            <a:ext cx="3769519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We Deserve the ₹15,000 Prize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529608" y="5257443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8936" y="5299829"/>
            <a:ext cx="2845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Solves India's #1 financial literacy problem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9608" y="5658445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8936" y="5700832"/>
            <a:ext cx="27834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 AI capabilities in one seamless product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29608" y="6059448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68936" y="6101834"/>
            <a:ext cx="45019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 unique features no other team has (FD Advisor + "Can I Afford?")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29608" y="6460450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68936" y="6502837"/>
            <a:ext cx="27636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Working demo with real transaction data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29608" y="6861453"/>
            <a:ext cx="277654" cy="277654"/>
          </a:xfrm>
          <a:prstGeom prst="roundRect">
            <a:avLst>
              <a:gd name="adj" fmla="val 1867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68936" y="6903839"/>
            <a:ext cx="29675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Direct path to commercialization with banks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0041" y="496014"/>
            <a:ext cx="5958959" cy="460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Minds Behind the Innovation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508" y="1179195"/>
            <a:ext cx="1912263" cy="1912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57393" y="3230642"/>
            <a:ext cx="1842373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Rakshita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230041" y="3527584"/>
            <a:ext cx="3297198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AI/ML Engineer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890" y="1179195"/>
            <a:ext cx="1912382" cy="19123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3894" y="3230761"/>
            <a:ext cx="1842373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Saheli Mondal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666423" y="3527703"/>
            <a:ext cx="3297317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Analyst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5391" y="1179195"/>
            <a:ext cx="1912263" cy="1912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30276" y="3230642"/>
            <a:ext cx="1842373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Srishti Patel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102923" y="3527584"/>
            <a:ext cx="3297198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UI/UX Designer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699" y="3972044"/>
            <a:ext cx="1912263" cy="19122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75584" y="6023491"/>
            <a:ext cx="1842373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Saurabh Prakash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3948232" y="6320433"/>
            <a:ext cx="3297198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 Stack Developer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081" y="3972044"/>
            <a:ext cx="1912382" cy="191238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112085" y="6023610"/>
            <a:ext cx="1842373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Himanshu Singh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7384613" y="6320552"/>
            <a:ext cx="3297317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2230041" y="6709291"/>
            <a:ext cx="8351044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Let's Make India Financially Smart</a:t>
            </a:r>
            <a:endParaRPr lang="en-US" sz="4000" dirty="0"/>
          </a:p>
        </p:txBody>
      </p:sp>
      <p:sp>
        <p:nvSpPr>
          <p:cNvPr id="19" name="Text 12"/>
          <p:cNvSpPr/>
          <p:nvPr/>
        </p:nvSpPr>
        <p:spPr>
          <a:xfrm>
            <a:off x="2230041" y="7511891"/>
            <a:ext cx="10170200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#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AIUtkarsh2026 #HackONiT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Custom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Mukta Light</vt:lpstr>
      <vt:lpstr>Arial</vt:lpstr>
      <vt:lpstr>Prompt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saurabh prakash</dc:creator>
  <cp:lastModifiedBy>Saurabh Prakash</cp:lastModifiedBy>
  <cp:revision>2</cp:revision>
  <dcterms:created xsi:type="dcterms:W3CDTF">2026-03-26T09:11:23Z</dcterms:created>
  <dcterms:modified xsi:type="dcterms:W3CDTF">2026-03-26T09:18:35Z</dcterms:modified>
</cp:coreProperties>
</file>